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audience. State your name, program, and capstone title.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the research question prominently. Explain why this matters for practitioners. ~2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hypothesis. Explain what each tests and why it matters. ~2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Briefly describe each data source. Mention date range and any data quality notes. ~1.5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DAG: what nodes represent, why each edge exists, economic rationale. This is the core innovation. ~2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pipeline steps. Emphasize walk-forward validation and no future leakage. ~2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H1 results. Compare baseline vs constrained. Highlight statistical significance. ~2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H2 results. Show cumulative returns and drawdown comparison. ~2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H3 and H4 results. Discuss ablation findings and factor diversity. ~2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model performs under stress. Discuss regime breaks. ~1.5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limitations. Show awareness of what could be improved. Future work shows research maturity. ~1.5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key contributions. Open for questions. ~1 minute +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ECAD0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Causal-Aware, Machine-Learning-Driven</a:t>
            </a:r>
            <a:endParaRPr lang="en-US" sz="2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Forecasting and Factor Construction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C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Steven Archuleta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WorldQuant University  |  MScFE 692 Capstone  |  2026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B529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 &amp; Motivation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solidFill>
            <a:srgbClr val="0D284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imposing manual causal constraints on an ML-driven risk forecasting pipeline affect forecast accuracy, portfolio performance, and interpretability compared to unconstrained baselines?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39319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606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97180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[Placeholder: Explain why ML risk models lack interpretability and how ignoring causal structure leads to spurious correlations]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2468880"/>
            <a:ext cx="39319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2606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Opportunity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297180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[Placeholder: Explain how causal constraints can improve robustness and transparency without sacrificing accuracy]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B529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Hypotheses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640080" cy="777240"/>
          </a:xfrm>
          <a:prstGeom prst="rect">
            <a:avLst/>
          </a:prstGeom>
          <a:solidFill>
            <a:srgbClr val="1B52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1005840"/>
            <a:ext cx="74523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417320" y="10789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Forecast Error Reduction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38988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DAG-constrained model reduces MAE/RMSE vs. unconstrained baseline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640080" cy="777240"/>
          </a:xfrm>
          <a:prstGeom prst="rect">
            <a:avLst/>
          </a:prstGeom>
          <a:solidFill>
            <a:srgbClr val="1B52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96596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234440" y="1965960"/>
            <a:ext cx="74523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417320" y="20391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Drawdown Reduction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235000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DAG-informed allocation reduces maximum drawdown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640080" cy="777240"/>
          </a:xfrm>
          <a:prstGeom prst="rect">
            <a:avLst/>
          </a:prstGeom>
          <a:solidFill>
            <a:srgbClr val="1B5299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2608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34440" y="2926080"/>
            <a:ext cx="74523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417320" y="2999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Sentiment Contribution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31012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sentiment module improves near-term risk control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640080" cy="777240"/>
          </a:xfrm>
          <a:prstGeom prst="rect">
            <a:avLst/>
          </a:prstGeom>
          <a:solidFill>
            <a:srgbClr val="1B5299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88620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234440" y="3886200"/>
            <a:ext cx="74523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417320" y="39593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 Diversity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17320" y="427024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constraints increase factor-exposure entropy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B529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Sources &amp; Feature Engineering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43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ETF Prices (yfinance)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tickers: SPY, QQQ, IWM, EFA, EEM, XLK, XLF, XLE, XLV, TLT, LQD, HYG, GLD, DBC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adjusted close, 2015–2025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143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FRED Macroeconomic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50876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DTB3 (3-month T-bill), VIXCLS (VIX), T10Y2Y (yield curve slope)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frequency, forward-filled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3017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Fama-French Factors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Mkt-RF, SMB, HML, RF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from Kenneth French data library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288036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3017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Sentiment (NLP)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338328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[Placeholder: RSS headlines, feedparser, sentiment scoring method, aggregation]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B529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Causal DAG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8A9BB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468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DAG figure here]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17920" y="1005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Design Choices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0" y="1554480"/>
            <a:ext cx="2560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specification (not discovery)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rationale for each edge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Constrains feature ordering in ML pipeline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spurious shortcuts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B529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Methodology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97280" y="1097280"/>
            <a:ext cx="548640" cy="548640"/>
          </a:xfrm>
          <a:prstGeom prst="ellipse">
            <a:avLst/>
          </a:prstGeom>
          <a:solidFill>
            <a:srgbClr val="1B5299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965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ETL &amp; 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423160"/>
            <a:ext cx="1691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extraction, cleaning, rolling volatility, momentum, regime indicators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548640" cy="548640"/>
          </a:xfrm>
          <a:prstGeom prst="ellipse">
            <a:avLst/>
          </a:prstGeom>
          <a:solidFill>
            <a:srgbClr val="1B5299"/>
          </a:solidFill>
          <a:ln/>
        </p:spPr>
      </p:sp>
      <p:sp>
        <p:nvSpPr>
          <p:cNvPr id="10" name="Text 8"/>
          <p:cNvSpPr/>
          <p:nvPr/>
        </p:nvSpPr>
        <p:spPr>
          <a:xfrm>
            <a:off x="324612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606040" y="182880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0" y="1965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DAG Constraints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0" y="2423160"/>
            <a:ext cx="1691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Impose causal ordering on feature set; compare constrained vs. unconstrained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394960" y="1097280"/>
            <a:ext cx="548640" cy="548640"/>
          </a:xfrm>
          <a:prstGeom prst="ellipse">
            <a:avLst/>
          </a:prstGeom>
          <a:solidFill>
            <a:srgbClr val="1B5299"/>
          </a:solidFill>
          <a:ln/>
        </p:spPr>
      </p:sp>
      <p:sp>
        <p:nvSpPr>
          <p:cNvPr id="15" name="Text 13"/>
          <p:cNvSpPr/>
          <p:nvPr/>
        </p:nvSpPr>
        <p:spPr>
          <a:xfrm>
            <a:off x="539496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754880" y="182880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1965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Forecasting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92040" y="2423160"/>
            <a:ext cx="1691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with walk-forward validation; time-ordered splits only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43800" y="1097280"/>
            <a:ext cx="548640" cy="548640"/>
          </a:xfrm>
          <a:prstGeom prst="ellipse">
            <a:avLst/>
          </a:prstGeom>
          <a:solidFill>
            <a:srgbClr val="1B5299"/>
          </a:solidFill>
          <a:ln/>
        </p:spPr>
      </p:sp>
      <p:sp>
        <p:nvSpPr>
          <p:cNvPr id="20" name="Text 18"/>
          <p:cNvSpPr/>
          <p:nvPr/>
        </p:nvSpPr>
        <p:spPr>
          <a:xfrm>
            <a:off x="754380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903720" y="182880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040880" y="1965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&amp; Eval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40880" y="2423160"/>
            <a:ext cx="1691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cvxpy optimization, drawdown analysis, ablation study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0" y="1371600"/>
            <a:ext cx="320040" cy="0"/>
          </a:xfrm>
          <a:prstGeom prst="line">
            <a:avLst/>
          </a:prstGeom>
          <a:noFill/>
          <a:ln w="25400">
            <a:solidFill>
              <a:srgbClr val="2ECA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34840" y="1371600"/>
            <a:ext cx="320040" cy="0"/>
          </a:xfrm>
          <a:prstGeom prst="line">
            <a:avLst/>
          </a:prstGeom>
          <a:noFill/>
          <a:ln w="25400">
            <a:solidFill>
              <a:srgbClr val="2ECA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1371600"/>
            <a:ext cx="320040" cy="0"/>
          </a:xfrm>
          <a:prstGeom prst="line">
            <a:avLst/>
          </a:prstGeom>
          <a:noFill/>
          <a:ln w="25400">
            <a:solidFill>
              <a:srgbClr val="2ECA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B529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Results: Forecast Accuracy (H1)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029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A9BB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468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MAE/RMSE comparison chart here]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760720" y="1005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Metrics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760720" y="1645920"/>
            <a:ext cx="292608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0" y="1691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0" y="1920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[X.XX]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315200" y="19659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baseline [X.XX]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60720" y="2697480"/>
            <a:ext cx="292608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0" y="2743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0" y="2971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[X.XX]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15200" y="3017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baseline [X.XX]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760720" y="3749040"/>
            <a:ext cx="292608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0" y="3794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0" y="4023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[X.XX]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315200" y="4069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improvement: [X%]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B529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Results: Portfolio Performance (H2)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029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A9BB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468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cumulative returns / drawdown chart]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188720"/>
          <a:ext cx="2926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2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2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29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 Ratio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[X.XX]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[X.XX]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Drawdown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[X.X%]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[X.X%]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Ann.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[X.X%]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[X.X%]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Ann. Vol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[X.X%]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[X.X%]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9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B529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Results: Sentiment &amp; Ablation (H3, H4)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43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Sentiment Contribution (H3)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5661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[Placeholder: Show ablation result — model with vs. without NLP sentiment module. Key metric: improvement in near-term risk control. Include chart or summary statistics.]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143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 Exposure Entropy (H4)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508760"/>
            <a:ext cx="35661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[Placeholder: Show factor-exposure entropy comparison between constrained and unconstrained models. Visualize with heatmap or bar chart. Higher entropy = more diverse loadings.]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B529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Stress Testing &amp; Robustness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A9BB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103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stress test results: COVID crash (Mar 2020), 2022 rate hike cycle, or other regime breaks]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[Placeholder: 1-2 sentence summary of stress test findings]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B529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43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5661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[Placeholder: Manual DAG subjectivity, daily frequency only, 14 ETFs, no transaction costs, no live trading, single ML algorithm, Azure budget constraints]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143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2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508760"/>
            <a:ext cx="35661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[Placeholder: Automated causal discovery (PC algorithm), higher frequency data, additional asset classes, multi-model ensemble, live trading integration, knowledge graph extensions]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ECAD0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468880" cy="2194560"/>
          </a:xfrm>
          <a:prstGeom prst="rect">
            <a:avLst/>
          </a:prstGeom>
          <a:solidFill>
            <a:srgbClr val="0D2847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54864"/>
          </a:xfrm>
          <a:prstGeom prst="rect">
            <a:avLst/>
          </a:prstGeom>
          <a:solidFill>
            <a:srgbClr val="2ECAD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45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CA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 Structure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CA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Matters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[Placeholder: 1-sentence H1 finding]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1463040"/>
            <a:ext cx="2468880" cy="2194560"/>
          </a:xfrm>
          <a:prstGeom prst="rect">
            <a:avLst/>
          </a:prstGeom>
          <a:solidFill>
            <a:srgbClr val="0D2847"/>
          </a:solidFill>
          <a:ln/>
        </p:spPr>
      </p:sp>
      <p:sp>
        <p:nvSpPr>
          <p:cNvPr id="9" name="Shape 7"/>
          <p:cNvSpPr/>
          <p:nvPr/>
        </p:nvSpPr>
        <p:spPr>
          <a:xfrm>
            <a:off x="3474720" y="1463040"/>
            <a:ext cx="2468880" cy="54864"/>
          </a:xfrm>
          <a:prstGeom prst="rect">
            <a:avLst/>
          </a:prstGeom>
          <a:solidFill>
            <a:srgbClr val="2ECAD0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0" y="1645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CA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Risk-Aware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CA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[Placeholder: 1-sentence H2 finding]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468880" cy="2194560"/>
          </a:xfrm>
          <a:prstGeom prst="rect">
            <a:avLst/>
          </a:prstGeom>
          <a:solidFill>
            <a:srgbClr val="0D2847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1463040"/>
            <a:ext cx="2468880" cy="54864"/>
          </a:xfrm>
          <a:prstGeom prst="rect">
            <a:avLst/>
          </a:prstGeom>
          <a:solidFill>
            <a:srgbClr val="2ECAD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645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CA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Interpretable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CA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Design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[Placeholder: 1-sentence overall contribution]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9319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ECA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— Questions?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Steven Archuleta  |  stevearchuleta@icloud.com  |  github.com/stevearchuleta/riskml-capstone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MScFE 692 Capstone Defense — Causal-Aware Risk Forecasting</dc:title>
  <dc:subject>PptxGenJS Presentation</dc:subject>
  <dc:creator>Steven Archuleta</dc:creator>
  <cp:lastModifiedBy>Steven Archuleta</cp:lastModifiedBy>
  <cp:revision>1</cp:revision>
  <dcterms:created xsi:type="dcterms:W3CDTF">2026-02-07T01:43:54Z</dcterms:created>
  <dcterms:modified xsi:type="dcterms:W3CDTF">2026-02-07T01:43:54Z</dcterms:modified>
</cp:coreProperties>
</file>